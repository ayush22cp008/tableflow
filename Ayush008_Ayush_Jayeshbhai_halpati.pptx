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96" d="100"/>
          <a:sy n="96" d="100"/>
        </p:scale>
        <p:origin x="149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0C2571-F836-4C8F-AA10-292B917EB4D7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BAB425-B4FA-4CA2-A93A-4E6ED3D52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264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AB425-B4FA-4CA2-A93A-4E6ED3D5215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181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96975" y="57702"/>
            <a:ext cx="8805545" cy="7453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15097" y="2708252"/>
            <a:ext cx="4907280" cy="3168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ayush22cp008/TableFlow" TargetMode="External"/><Relationship Id="rId4" Type="http://schemas.openxmlformats.org/officeDocument/2006/relationships/hyperlink" Target="https://table-flow-nu.vercel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15575" y="0"/>
            <a:ext cx="1876424" cy="16287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199" y="533400"/>
            <a:ext cx="2028498" cy="96883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33800" y="1628775"/>
            <a:ext cx="3981449" cy="4371974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954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100" spc="-50" dirty="0"/>
              <a:t>Vibeathon</a:t>
            </a:r>
            <a:r>
              <a:rPr sz="3100" spc="-265" dirty="0"/>
              <a:t> </a:t>
            </a:r>
            <a:r>
              <a:rPr sz="3100" spc="-190" dirty="0"/>
              <a:t>6.0</a:t>
            </a:r>
            <a:r>
              <a:rPr sz="3100" spc="-260" dirty="0"/>
              <a:t> </a:t>
            </a:r>
            <a:r>
              <a:rPr sz="3100" spc="-45" dirty="0"/>
              <a:t>(Vibecoding</a:t>
            </a:r>
            <a:r>
              <a:rPr sz="3100" spc="-260" dirty="0"/>
              <a:t> </a:t>
            </a:r>
            <a:r>
              <a:rPr sz="3100" spc="-25" dirty="0"/>
              <a:t>Hackathon)</a:t>
            </a:r>
            <a:r>
              <a:rPr sz="3100" spc="-265" dirty="0"/>
              <a:t> </a:t>
            </a:r>
            <a:r>
              <a:rPr sz="3100" spc="280" dirty="0"/>
              <a:t>–</a:t>
            </a:r>
            <a:r>
              <a:rPr sz="3100" spc="-260" dirty="0"/>
              <a:t> </a:t>
            </a:r>
            <a:r>
              <a:rPr sz="3100" spc="-180" dirty="0"/>
              <a:t>July</a:t>
            </a:r>
            <a:r>
              <a:rPr sz="3100" spc="-260" dirty="0"/>
              <a:t> </a:t>
            </a:r>
            <a:r>
              <a:rPr sz="3100" spc="-30" dirty="0"/>
              <a:t>2026</a:t>
            </a:r>
            <a:endParaRPr sz="3100"/>
          </a:p>
        </p:txBody>
      </p:sp>
      <p:sp>
        <p:nvSpPr>
          <p:cNvPr id="6" name="object 6"/>
          <p:cNvSpPr txBox="1"/>
          <p:nvPr/>
        </p:nvSpPr>
        <p:spPr>
          <a:xfrm>
            <a:off x="152400" y="1117716"/>
            <a:ext cx="11350946" cy="412741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68495">
              <a:lnSpc>
                <a:spcPct val="100000"/>
              </a:lnSpc>
              <a:spcBef>
                <a:spcPts val="105"/>
              </a:spcBef>
            </a:pPr>
            <a:r>
              <a:rPr lang="en-IN" sz="3600" dirty="0" err="1">
                <a:solidFill>
                  <a:schemeClr val="bg1"/>
                </a:solidFill>
              </a:rPr>
              <a:t>TableFlow</a:t>
            </a:r>
            <a:endParaRPr sz="3600" dirty="0">
              <a:solidFill>
                <a:schemeClr val="bg1"/>
              </a:solidFill>
              <a:latin typeface="Trebuchet MS" panose="020B0603020202020204"/>
              <a:cs typeface="Trebuchet MS" panose="020B0603020202020204"/>
            </a:endParaRPr>
          </a:p>
          <a:p>
            <a:pPr>
              <a:lnSpc>
                <a:spcPct val="100000"/>
              </a:lnSpc>
              <a:spcBef>
                <a:spcPts val="435"/>
              </a:spcBef>
            </a:pPr>
            <a:endParaRPr sz="3600" dirty="0">
              <a:solidFill>
                <a:schemeClr val="bg1"/>
              </a:solidFill>
              <a:latin typeface="Trebuchet MS" panose="020B0603020202020204"/>
              <a:cs typeface="Trebuchet MS" panose="020B0603020202020204"/>
            </a:endParaRPr>
          </a:p>
          <a:p>
            <a:r>
              <a:rPr lang="en-IN" sz="3200" b="1" dirty="0">
                <a:solidFill>
                  <a:schemeClr val="bg1"/>
                </a:solidFill>
              </a:rPr>
              <a:t>AI-Powered Smart Restaurant Management System</a:t>
            </a:r>
          </a:p>
          <a:p>
            <a:r>
              <a:rPr lang="en-IN" sz="3200" b="1" dirty="0">
                <a:solidFill>
                  <a:schemeClr val="bg1"/>
                </a:solidFill>
              </a:rPr>
              <a:t>Team Name:</a:t>
            </a:r>
            <a:r>
              <a:rPr lang="en-IN" sz="3200" dirty="0">
                <a:solidFill>
                  <a:schemeClr val="bg1"/>
                </a:solidFill>
              </a:rPr>
              <a:t> Ayush008</a:t>
            </a:r>
          </a:p>
          <a:p>
            <a:r>
              <a:rPr lang="en-IN" sz="3200" b="1" dirty="0">
                <a:solidFill>
                  <a:schemeClr val="bg1"/>
                </a:solidFill>
              </a:rPr>
              <a:t>Team Leader:</a:t>
            </a:r>
            <a:r>
              <a:rPr lang="en-IN" sz="3200" dirty="0">
                <a:solidFill>
                  <a:schemeClr val="bg1"/>
                </a:solidFill>
              </a:rPr>
              <a:t> Ayush </a:t>
            </a:r>
            <a:r>
              <a:rPr lang="en-IN" sz="3200" dirty="0" err="1">
                <a:solidFill>
                  <a:schemeClr val="bg1"/>
                </a:solidFill>
              </a:rPr>
              <a:t>Jayeshbhai</a:t>
            </a:r>
            <a:r>
              <a:rPr lang="en-IN" sz="3200" dirty="0">
                <a:solidFill>
                  <a:schemeClr val="bg1"/>
                </a:solidFill>
              </a:rPr>
              <a:t> Halpati</a:t>
            </a:r>
          </a:p>
          <a:p>
            <a:r>
              <a:rPr lang="en-IN" sz="3200" b="1" dirty="0">
                <a:solidFill>
                  <a:schemeClr val="bg1"/>
                </a:solidFill>
              </a:rPr>
              <a:t>College:</a:t>
            </a:r>
            <a:r>
              <a:rPr lang="en-IN" sz="3200" dirty="0">
                <a:solidFill>
                  <a:schemeClr val="bg1"/>
                </a:solidFill>
              </a:rPr>
              <a:t> Birla Vishwakarma Mahavidyalaya (BVM)</a:t>
            </a:r>
          </a:p>
          <a:p>
            <a:r>
              <a:rPr lang="en-IN" sz="3200" b="1" dirty="0">
                <a:solidFill>
                  <a:schemeClr val="bg1"/>
                </a:solidFill>
              </a:rPr>
              <a:t>Department:</a:t>
            </a:r>
            <a:r>
              <a:rPr lang="en-IN" sz="3200" dirty="0">
                <a:solidFill>
                  <a:schemeClr val="bg1"/>
                </a:solidFill>
              </a:rPr>
              <a:t> </a:t>
            </a:r>
            <a:r>
              <a:rPr lang="en-IN" sz="3200" dirty="0" err="1">
                <a:solidFill>
                  <a:schemeClr val="bg1"/>
                </a:solidFill>
              </a:rPr>
              <a:t>B.Tech</a:t>
            </a:r>
            <a:r>
              <a:rPr lang="en-IN" sz="3200" dirty="0">
                <a:solidFill>
                  <a:schemeClr val="bg1"/>
                </a:solidFill>
              </a:rPr>
              <a:t> Computer Engineering </a:t>
            </a:r>
            <a:r>
              <a:rPr lang="en-IN" sz="3200" dirty="0">
                <a:solidFill>
                  <a:schemeClr val="bg1"/>
                </a:solidFill>
                <a:highlight>
                  <a:srgbClr val="000000"/>
                </a:highlight>
              </a:rPr>
              <a:t>Graduate</a:t>
            </a:r>
            <a:r>
              <a:rPr lang="en-IN" sz="3200" dirty="0"/>
              <a:t> </a:t>
            </a:r>
            <a:r>
              <a:rPr lang="en-IN" sz="3200" dirty="0">
                <a:solidFill>
                  <a:schemeClr val="bg1"/>
                </a:solidFill>
              </a:rPr>
              <a:t>(2026)</a:t>
            </a:r>
          </a:p>
          <a:p>
            <a:r>
              <a:rPr lang="en-IN" sz="3200" b="1" dirty="0">
                <a:solidFill>
                  <a:schemeClr val="bg1"/>
                </a:solidFill>
              </a:rPr>
              <a:t>Hackathon:</a:t>
            </a:r>
            <a:r>
              <a:rPr lang="en-IN" sz="3200" dirty="0">
                <a:solidFill>
                  <a:schemeClr val="bg1"/>
                </a:solidFill>
              </a:rPr>
              <a:t> </a:t>
            </a:r>
            <a:r>
              <a:rPr lang="en-IN" sz="3200" dirty="0" err="1">
                <a:solidFill>
                  <a:schemeClr val="bg1"/>
                </a:solidFill>
              </a:rPr>
              <a:t>VibeAthon</a:t>
            </a:r>
            <a:r>
              <a:rPr lang="en-IN" sz="3200" dirty="0">
                <a:solidFill>
                  <a:schemeClr val="bg1"/>
                </a:solidFill>
              </a:rPr>
              <a:t> 6.0 – Professional Category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26464" y="-33933"/>
            <a:ext cx="1485899" cy="10572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77599" y="0"/>
            <a:ext cx="914399" cy="98940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144" rIns="0" bIns="0" rtlCol="0">
            <a:spAutoFit/>
          </a:bodyPr>
          <a:lstStyle/>
          <a:p>
            <a:pPr marL="2245995">
              <a:lnSpc>
                <a:spcPct val="100000"/>
              </a:lnSpc>
              <a:spcBef>
                <a:spcPts val="130"/>
              </a:spcBef>
            </a:pPr>
            <a:r>
              <a:rPr spc="75" dirty="0"/>
              <a:t>CURRENT</a:t>
            </a:r>
            <a:r>
              <a:rPr spc="-360" dirty="0"/>
              <a:t> </a:t>
            </a:r>
            <a:r>
              <a:rPr spc="80" dirty="0"/>
              <a:t>PROBLEM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xfrm>
            <a:off x="1654416" y="834825"/>
            <a:ext cx="8948104" cy="65067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IN" b="1" dirty="0"/>
              <a:t>Restaurant Operations Are Still Manual</a:t>
            </a:r>
          </a:p>
          <a:p>
            <a:r>
              <a:rPr lang="en-IN" b="1" dirty="0"/>
              <a:t>Challenges</a:t>
            </a:r>
          </a:p>
          <a:p>
            <a:r>
              <a:rPr lang="en-IN" dirty="0"/>
              <a:t>Manual table allocation </a:t>
            </a:r>
          </a:p>
          <a:p>
            <a:r>
              <a:rPr lang="en-IN" dirty="0"/>
              <a:t>Long customer waiting time </a:t>
            </a:r>
          </a:p>
          <a:p>
            <a:r>
              <a:rPr lang="en-IN" dirty="0"/>
              <a:t>Reservation conflicts </a:t>
            </a:r>
          </a:p>
          <a:p>
            <a:r>
              <a:rPr lang="en-IN" dirty="0"/>
              <a:t>Billing inefficiencies </a:t>
            </a:r>
          </a:p>
          <a:p>
            <a:r>
              <a:rPr lang="en-IN" dirty="0"/>
              <a:t>No AI-powered insights </a:t>
            </a:r>
          </a:p>
          <a:p>
            <a:r>
              <a:rPr lang="en-IN" b="1" dirty="0"/>
              <a:t>Existing Solutions</a:t>
            </a:r>
          </a:p>
          <a:p>
            <a:r>
              <a:rPr lang="en-IN" dirty="0"/>
              <a:t>Focus mainly on food delivery </a:t>
            </a:r>
          </a:p>
          <a:p>
            <a:r>
              <a:rPr lang="en-IN" dirty="0"/>
              <a:t>Limited support for dine-in operations </a:t>
            </a:r>
          </a:p>
          <a:p>
            <a:r>
              <a:rPr lang="en-IN" b="1" dirty="0"/>
              <a:t>Impact</a:t>
            </a:r>
          </a:p>
          <a:p>
            <a:r>
              <a:rPr lang="en-IN" dirty="0"/>
              <a:t>Slow service </a:t>
            </a:r>
          </a:p>
          <a:p>
            <a:r>
              <a:rPr lang="en-IN" dirty="0"/>
              <a:t>Poor customer experience </a:t>
            </a:r>
          </a:p>
          <a:p>
            <a:r>
              <a:rPr lang="en-IN" dirty="0"/>
              <a:t>Reduced operational efficiency </a:t>
            </a:r>
          </a:p>
          <a:p>
            <a:pPr marL="12700" marR="1899920">
              <a:lnSpc>
                <a:spcPct val="150000"/>
              </a:lnSpc>
              <a:spcBef>
                <a:spcPts val="95"/>
              </a:spcBef>
            </a:pPr>
            <a:endParaRPr spc="-10" dirty="0"/>
          </a:p>
        </p:txBody>
      </p:sp>
      <p:sp>
        <p:nvSpPr>
          <p:cNvPr id="11" name="object 11"/>
          <p:cNvSpPr txBox="1"/>
          <p:nvPr/>
        </p:nvSpPr>
        <p:spPr>
          <a:xfrm>
            <a:off x="242994" y="183884"/>
            <a:ext cx="951865" cy="26161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lang="en-IN" sz="1400" dirty="0">
                <a:solidFill>
                  <a:schemeClr val="bg1"/>
                </a:solidFill>
              </a:rPr>
              <a:t>Ayush008</a:t>
            </a:r>
            <a:endParaRPr sz="1350" dirty="0">
              <a:latin typeface="Verdana" panose="020B0604030504040204"/>
              <a:cs typeface="Verdana" panose="020B0604030504040204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33800" y="1628775"/>
            <a:ext cx="3981449" cy="43719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77599" y="0"/>
            <a:ext cx="914399" cy="98940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271" y="3171"/>
            <a:ext cx="1485899" cy="10572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25124" y="2609783"/>
            <a:ext cx="1374278" cy="115728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12114" y="301631"/>
            <a:ext cx="793750" cy="214161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lang="en-IN" sz="1100" dirty="0">
                <a:solidFill>
                  <a:schemeClr val="bg1"/>
                </a:solidFill>
              </a:rPr>
              <a:t>Ayush008</a:t>
            </a:r>
            <a:endParaRPr lang="en-IN" sz="1100" dirty="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257" rIns="0" bIns="0" rtlCol="0">
            <a:spAutoFit/>
          </a:bodyPr>
          <a:lstStyle/>
          <a:p>
            <a:pPr marL="2461895">
              <a:lnSpc>
                <a:spcPct val="100000"/>
              </a:lnSpc>
              <a:spcBef>
                <a:spcPts val="130"/>
              </a:spcBef>
            </a:pPr>
            <a:r>
              <a:rPr dirty="0"/>
              <a:t>Proposed</a:t>
            </a:r>
            <a:r>
              <a:rPr spc="-100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66800" y="1025541"/>
            <a:ext cx="10503303" cy="555664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n-IN" sz="2400" b="1" dirty="0" err="1">
                <a:solidFill>
                  <a:schemeClr val="bg1"/>
                </a:solidFill>
              </a:rPr>
              <a:t>TableFlow</a:t>
            </a:r>
            <a:r>
              <a:rPr lang="en-IN" sz="2400" b="1" dirty="0">
                <a:solidFill>
                  <a:schemeClr val="bg1"/>
                </a:solidFill>
              </a:rPr>
              <a:t> – One Platform for Complete Restaurant Operations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End-to-End Workflow</a:t>
            </a:r>
          </a:p>
          <a:p>
            <a:r>
              <a:rPr lang="en-IN" sz="2400" dirty="0">
                <a:solidFill>
                  <a:schemeClr val="bg1"/>
                </a:solidFill>
              </a:rPr>
              <a:t>Reservation / Walk-in → Live Menu → Order → Table Allocation → Billing → Analytics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Key Features</a:t>
            </a:r>
          </a:p>
          <a:p>
            <a:r>
              <a:rPr lang="en-IN" sz="2400" dirty="0">
                <a:solidFill>
                  <a:schemeClr val="bg1"/>
                </a:solidFill>
              </a:rPr>
              <a:t>Real-Time Menu Availability </a:t>
            </a:r>
          </a:p>
          <a:p>
            <a:r>
              <a:rPr lang="en-IN" sz="2400" dirty="0">
                <a:solidFill>
                  <a:schemeClr val="bg1"/>
                </a:solidFill>
              </a:rPr>
              <a:t>Digital Order Placement </a:t>
            </a:r>
          </a:p>
          <a:p>
            <a:r>
              <a:rPr lang="en-IN" sz="2400" dirty="0">
                <a:solidFill>
                  <a:schemeClr val="bg1"/>
                </a:solidFill>
              </a:rPr>
              <a:t>Smart Table &amp; Waitlist Management </a:t>
            </a:r>
          </a:p>
          <a:p>
            <a:r>
              <a:rPr lang="en-IN" sz="2400" dirty="0">
                <a:solidFill>
                  <a:schemeClr val="bg1"/>
                </a:solidFill>
              </a:rPr>
              <a:t>AI Menu Intelligence </a:t>
            </a:r>
          </a:p>
          <a:p>
            <a:r>
              <a:rPr lang="en-IN" sz="2400" dirty="0">
                <a:solidFill>
                  <a:schemeClr val="bg1"/>
                </a:solidFill>
              </a:rPr>
              <a:t>Transparent Itemized Billing </a:t>
            </a:r>
          </a:p>
          <a:p>
            <a:r>
              <a:rPr lang="en-IN" sz="2400" dirty="0">
                <a:solidFill>
                  <a:schemeClr val="bg1"/>
                </a:solidFill>
              </a:rPr>
              <a:t>Reservation Approval &amp; Verification 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Value</a:t>
            </a:r>
          </a:p>
          <a:p>
            <a:r>
              <a:rPr lang="en-IN" sz="2400" dirty="0">
                <a:solidFill>
                  <a:schemeClr val="bg1"/>
                </a:solidFill>
              </a:rPr>
              <a:t>✔ Faster Operations</a:t>
            </a:r>
          </a:p>
          <a:p>
            <a:r>
              <a:rPr lang="en-IN" sz="2400" dirty="0">
                <a:solidFill>
                  <a:schemeClr val="bg1"/>
                </a:solidFill>
              </a:rPr>
              <a:t>✔ Better Customer Experience</a:t>
            </a:r>
          </a:p>
          <a:p>
            <a:r>
              <a:rPr lang="en-IN" sz="2400" dirty="0">
                <a:solidFill>
                  <a:schemeClr val="bg1"/>
                </a:solidFill>
              </a:rPr>
              <a:t>✔ Smarter Business Decisions</a:t>
            </a: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33800" y="1628775"/>
            <a:ext cx="3981449" cy="43719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77599" y="0"/>
            <a:ext cx="914399" cy="98940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871345">
              <a:lnSpc>
                <a:spcPct val="100000"/>
              </a:lnSpc>
              <a:spcBef>
                <a:spcPts val="130"/>
              </a:spcBef>
            </a:pPr>
            <a:r>
              <a:rPr spc="70" dirty="0"/>
              <a:t>TECHNICAL</a:t>
            </a:r>
            <a:r>
              <a:rPr spc="-385" dirty="0"/>
              <a:t> </a:t>
            </a:r>
            <a:r>
              <a:rPr spc="95" dirty="0"/>
              <a:t>APPROACH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271" y="3171"/>
            <a:ext cx="1485899" cy="10572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12114" y="301631"/>
            <a:ext cx="793750" cy="214161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lang="en-IN" sz="1100" dirty="0">
                <a:solidFill>
                  <a:schemeClr val="bg1"/>
                </a:solidFill>
              </a:rPr>
              <a:t>Ayush008</a:t>
            </a:r>
            <a:endParaRPr lang="en-IN" sz="1100" dirty="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89796" y="685800"/>
            <a:ext cx="10145002" cy="592598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Modern Full-Stack Architecture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Frontend</a:t>
            </a:r>
          </a:p>
          <a:p>
            <a:r>
              <a:rPr lang="en-IN" sz="2400" dirty="0">
                <a:solidFill>
                  <a:schemeClr val="bg1"/>
                </a:solidFill>
              </a:rPr>
              <a:t>Next.js 14 </a:t>
            </a:r>
          </a:p>
          <a:p>
            <a:r>
              <a:rPr lang="en-IN" sz="2400" dirty="0">
                <a:solidFill>
                  <a:schemeClr val="bg1"/>
                </a:solidFill>
              </a:rPr>
              <a:t>TypeScript </a:t>
            </a:r>
          </a:p>
          <a:p>
            <a:r>
              <a:rPr lang="en-IN" sz="2400" dirty="0">
                <a:solidFill>
                  <a:schemeClr val="bg1"/>
                </a:solidFill>
              </a:rPr>
              <a:t>Tailwind CSS 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Backend</a:t>
            </a:r>
          </a:p>
          <a:p>
            <a:r>
              <a:rPr lang="en-IN" sz="2400" dirty="0" err="1">
                <a:solidFill>
                  <a:schemeClr val="bg1"/>
                </a:solidFill>
              </a:rPr>
              <a:t>Supabase</a:t>
            </a:r>
            <a:r>
              <a:rPr lang="en-IN" sz="2400" dirty="0">
                <a:solidFill>
                  <a:schemeClr val="bg1"/>
                </a:solidFill>
              </a:rPr>
              <a:t> </a:t>
            </a:r>
          </a:p>
          <a:p>
            <a:r>
              <a:rPr lang="en-IN" sz="2400" dirty="0">
                <a:solidFill>
                  <a:schemeClr val="bg1"/>
                </a:solidFill>
              </a:rPr>
              <a:t>PostgreSQL </a:t>
            </a:r>
          </a:p>
          <a:p>
            <a:r>
              <a:rPr lang="en-IN" sz="2400" dirty="0">
                <a:solidFill>
                  <a:schemeClr val="bg1"/>
                </a:solidFill>
              </a:rPr>
              <a:t>Realtime </a:t>
            </a:r>
          </a:p>
          <a:p>
            <a:r>
              <a:rPr lang="en-IN" sz="2400" dirty="0">
                <a:solidFill>
                  <a:schemeClr val="bg1"/>
                </a:solidFill>
              </a:rPr>
              <a:t>Google OAuth 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AI &amp; Cloud</a:t>
            </a:r>
          </a:p>
          <a:p>
            <a:r>
              <a:rPr lang="en-IN" sz="2400" dirty="0">
                <a:solidFill>
                  <a:schemeClr val="bg1"/>
                </a:solidFill>
              </a:rPr>
              <a:t>Google Gemini 2.5 Flash </a:t>
            </a:r>
          </a:p>
          <a:p>
            <a:r>
              <a:rPr lang="en-IN" sz="2400" dirty="0">
                <a:solidFill>
                  <a:schemeClr val="bg1"/>
                </a:solidFill>
              </a:rPr>
              <a:t>Resend Email </a:t>
            </a:r>
          </a:p>
          <a:p>
            <a:r>
              <a:rPr lang="en-IN" sz="2400" dirty="0" err="1">
                <a:solidFill>
                  <a:schemeClr val="bg1"/>
                </a:solidFill>
              </a:rPr>
              <a:t>Vercel</a:t>
            </a:r>
            <a:r>
              <a:rPr lang="en-IN" sz="2400" dirty="0">
                <a:solidFill>
                  <a:schemeClr val="bg1"/>
                </a:solidFill>
              </a:rPr>
              <a:t> Deployment 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Architecture</a:t>
            </a:r>
          </a:p>
          <a:p>
            <a:r>
              <a:rPr lang="en-IN" sz="2400" dirty="0">
                <a:solidFill>
                  <a:schemeClr val="bg1"/>
                </a:solidFill>
              </a:rPr>
              <a:t>Next.js ⇄ </a:t>
            </a:r>
            <a:r>
              <a:rPr lang="en-IN" sz="2400" dirty="0" err="1">
                <a:solidFill>
                  <a:schemeClr val="bg1"/>
                </a:solidFill>
              </a:rPr>
              <a:t>Supabase</a:t>
            </a:r>
            <a:r>
              <a:rPr lang="en-IN" sz="2400" dirty="0">
                <a:solidFill>
                  <a:schemeClr val="bg1"/>
                </a:solidFill>
              </a:rPr>
              <a:t> ⇄ PostgreSQL ⇄ Gemini AI</a:t>
            </a: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33800" y="1628775"/>
            <a:ext cx="3981449" cy="43719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0E370-8932-34C3-28B0-5DB097FFA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152400"/>
            <a:ext cx="4984825" cy="607859"/>
          </a:xfrm>
        </p:spPr>
        <p:txBody>
          <a:bodyPr/>
          <a:lstStyle/>
          <a:p>
            <a:r>
              <a:rPr lang="en-IN" dirty="0"/>
              <a:t>AI &amp; Smart Features</a:t>
            </a:r>
          </a:p>
        </p:txBody>
      </p:sp>
      <p:pic>
        <p:nvPicPr>
          <p:cNvPr id="4" name="object 12">
            <a:extLst>
              <a:ext uri="{FF2B5EF4-FFF2-40B4-BE49-F238E27FC236}">
                <a16:creationId xmlns:a16="http://schemas.microsoft.com/office/drawing/2014/main" id="{71A44EF7-2D83-E558-BC39-D4AB9EBBE37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3800" y="1628775"/>
            <a:ext cx="3981449" cy="4371974"/>
          </a:xfrm>
          <a:prstGeom prst="rect">
            <a:avLst/>
          </a:prstGeom>
        </p:spPr>
      </p:pic>
      <p:pic>
        <p:nvPicPr>
          <p:cNvPr id="6" name="object 3">
            <a:extLst>
              <a:ext uri="{FF2B5EF4-FFF2-40B4-BE49-F238E27FC236}">
                <a16:creationId xmlns:a16="http://schemas.microsoft.com/office/drawing/2014/main" id="{638D087B-BBB7-5EAE-B0F9-1AC705231FC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271" y="3171"/>
            <a:ext cx="1485899" cy="10572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27DB72-F902-1059-E4B0-435F98FCF24B}"/>
              </a:ext>
            </a:extLst>
          </p:cNvPr>
          <p:cNvSpPr txBox="1"/>
          <p:nvPr/>
        </p:nvSpPr>
        <p:spPr>
          <a:xfrm>
            <a:off x="288589" y="401003"/>
            <a:ext cx="9912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lang="en-IN" sz="1100" dirty="0">
                <a:solidFill>
                  <a:schemeClr val="bg1"/>
                </a:solidFill>
              </a:rPr>
              <a:t>Ayush008</a:t>
            </a:r>
            <a:endParaRPr lang="en-IN" sz="1100" dirty="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68CEA2-9374-B750-CD2F-2E9A00A5D195}"/>
              </a:ext>
            </a:extLst>
          </p:cNvPr>
          <p:cNvSpPr txBox="1"/>
          <p:nvPr/>
        </p:nvSpPr>
        <p:spPr>
          <a:xfrm>
            <a:off x="1752600" y="1371600"/>
            <a:ext cx="609467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bg1"/>
                </a:solidFill>
              </a:rPr>
              <a:t>AI-Powered Restaurant Intelligence</a:t>
            </a:r>
          </a:p>
          <a:p>
            <a:pPr>
              <a:buNone/>
            </a:pPr>
            <a:r>
              <a:rPr lang="en-IN" sz="2400" b="1" dirty="0">
                <a:solidFill>
                  <a:schemeClr val="bg1"/>
                </a:solidFill>
              </a:rPr>
              <a:t>Google Gemini 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Demand Forecasting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Star &amp; Deadweight Dish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Customer Feedback Summary </a:t>
            </a:r>
          </a:p>
          <a:p>
            <a:pPr>
              <a:buNone/>
            </a:pPr>
            <a:r>
              <a:rPr lang="en-IN" sz="2400" b="1" dirty="0">
                <a:solidFill>
                  <a:schemeClr val="bg1"/>
                </a:solidFill>
              </a:rPr>
              <a:t>Smart Automation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Automatic Table Allocation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Seat-Level Capacity Management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Reservation Verification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Real-Time Menu Updates</a:t>
            </a:r>
          </a:p>
        </p:txBody>
      </p:sp>
    </p:spTree>
    <p:extLst>
      <p:ext uri="{BB962C8B-B14F-4D97-AF65-F5344CB8AC3E}">
        <p14:creationId xmlns:p14="http://schemas.microsoft.com/office/powerpoint/2010/main" val="1336431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77599" y="0"/>
            <a:ext cx="914399" cy="98940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796975" y="57702"/>
            <a:ext cx="8805545" cy="6242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797685">
              <a:lnSpc>
                <a:spcPct val="100000"/>
              </a:lnSpc>
              <a:spcBef>
                <a:spcPts val="130"/>
              </a:spcBef>
            </a:pPr>
            <a:r>
              <a:rPr spc="120" dirty="0"/>
              <a:t>Use</a:t>
            </a:r>
            <a:r>
              <a:rPr spc="-340" dirty="0"/>
              <a:t> </a:t>
            </a:r>
            <a:r>
              <a:rPr spc="220" dirty="0"/>
              <a:t>Cases</a:t>
            </a:r>
            <a:r>
              <a:rPr spc="-340" dirty="0"/>
              <a:t> </a:t>
            </a:r>
            <a:r>
              <a:rPr lang="en-IN" spc="-340" dirty="0"/>
              <a:t>&amp;</a:t>
            </a:r>
            <a:r>
              <a:rPr spc="-340" dirty="0"/>
              <a:t> </a:t>
            </a:r>
            <a:r>
              <a:rPr spc="45" dirty="0"/>
              <a:t>Impact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72458" y="996035"/>
            <a:ext cx="5671130" cy="518731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Real-World Benefits</a:t>
            </a:r>
          </a:p>
          <a:p>
            <a:r>
              <a:rPr lang="en-IN" sz="2800" b="1" dirty="0">
                <a:solidFill>
                  <a:schemeClr val="bg1"/>
                </a:solidFill>
              </a:rPr>
              <a:t>Target Users</a:t>
            </a:r>
          </a:p>
          <a:p>
            <a:r>
              <a:rPr lang="en-IN" sz="2800" dirty="0">
                <a:solidFill>
                  <a:schemeClr val="bg1"/>
                </a:solidFill>
              </a:rPr>
              <a:t>Restaurants </a:t>
            </a:r>
          </a:p>
          <a:p>
            <a:r>
              <a:rPr lang="en-IN" sz="2800" dirty="0">
                <a:solidFill>
                  <a:schemeClr val="bg1"/>
                </a:solidFill>
              </a:rPr>
              <a:t>Cafés </a:t>
            </a:r>
          </a:p>
          <a:p>
            <a:r>
              <a:rPr lang="en-IN" sz="2800" dirty="0">
                <a:solidFill>
                  <a:schemeClr val="bg1"/>
                </a:solidFill>
              </a:rPr>
              <a:t>Restaurant Owners </a:t>
            </a:r>
          </a:p>
          <a:p>
            <a:r>
              <a:rPr lang="en-IN" sz="2800" dirty="0">
                <a:solidFill>
                  <a:schemeClr val="bg1"/>
                </a:solidFill>
              </a:rPr>
              <a:t>Managers </a:t>
            </a:r>
          </a:p>
          <a:p>
            <a:r>
              <a:rPr lang="en-IN" sz="2800" b="1" dirty="0">
                <a:solidFill>
                  <a:schemeClr val="bg1"/>
                </a:solidFill>
              </a:rPr>
              <a:t>Business Impact</a:t>
            </a:r>
          </a:p>
          <a:p>
            <a:r>
              <a:rPr lang="en-IN" sz="2800" dirty="0">
                <a:solidFill>
                  <a:schemeClr val="bg1"/>
                </a:solidFill>
              </a:rPr>
              <a:t>Faster Service </a:t>
            </a:r>
          </a:p>
          <a:p>
            <a:r>
              <a:rPr lang="en-IN" sz="2800" dirty="0">
                <a:solidFill>
                  <a:schemeClr val="bg1"/>
                </a:solidFill>
              </a:rPr>
              <a:t>Better Table Utilization </a:t>
            </a:r>
          </a:p>
          <a:p>
            <a:r>
              <a:rPr lang="en-IN" sz="2800" dirty="0">
                <a:solidFill>
                  <a:schemeClr val="bg1"/>
                </a:solidFill>
              </a:rPr>
              <a:t>Reduced Manual Work </a:t>
            </a:r>
          </a:p>
          <a:p>
            <a:r>
              <a:rPr lang="en-IN" sz="2800" dirty="0">
                <a:solidFill>
                  <a:schemeClr val="bg1"/>
                </a:solidFill>
              </a:rPr>
              <a:t>Improved Customer Experience </a:t>
            </a:r>
          </a:p>
          <a:p>
            <a:r>
              <a:rPr lang="en-IN" sz="2800" dirty="0">
                <a:solidFill>
                  <a:schemeClr val="bg1"/>
                </a:solidFill>
              </a:rPr>
              <a:t>Data-Driven Decision Making</a:t>
            </a: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688" y="0"/>
            <a:ext cx="1485899" cy="105727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47614" y="244532"/>
            <a:ext cx="793750" cy="214161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lang="en-IN" sz="1100" dirty="0">
                <a:solidFill>
                  <a:schemeClr val="bg1"/>
                </a:solidFill>
              </a:rPr>
              <a:t>Ayush008</a:t>
            </a:r>
            <a:endParaRPr lang="en-IN" sz="1100" dirty="0">
              <a:latin typeface="Verdana" panose="020B0604030504040204"/>
              <a:cs typeface="Verdana" panose="020B0604030504040204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33800" y="1628775"/>
            <a:ext cx="3981449" cy="43719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77599" y="0"/>
            <a:ext cx="914399" cy="98940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271" y="3171"/>
            <a:ext cx="1485899" cy="10572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3425" y="301631"/>
            <a:ext cx="770890" cy="214161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lang="en-IN" sz="1100" dirty="0">
                <a:solidFill>
                  <a:schemeClr val="bg1"/>
                </a:solidFill>
              </a:rPr>
              <a:t>Ayush008</a:t>
            </a:r>
            <a:endParaRPr lang="en-IN" sz="1100" dirty="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796975" y="57702"/>
            <a:ext cx="8805545" cy="6242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60170">
              <a:lnSpc>
                <a:spcPct val="100000"/>
              </a:lnSpc>
              <a:spcBef>
                <a:spcPts val="130"/>
              </a:spcBef>
            </a:pPr>
            <a:r>
              <a:rPr spc="-114" dirty="0"/>
              <a:t>Future</a:t>
            </a:r>
            <a:r>
              <a:rPr spc="-345" dirty="0"/>
              <a:t> </a:t>
            </a:r>
            <a:r>
              <a:rPr spc="95" dirty="0"/>
              <a:t>Scope</a:t>
            </a:r>
            <a:r>
              <a:rPr spc="-345" dirty="0"/>
              <a:t> </a:t>
            </a:r>
            <a:r>
              <a:rPr lang="en-IN" spc="-345" dirty="0"/>
              <a:t>&amp; </a:t>
            </a:r>
            <a:r>
              <a:rPr spc="60" dirty="0"/>
              <a:t>Conclusion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745954" y="1255192"/>
            <a:ext cx="6264282" cy="47564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Future Enhancements</a:t>
            </a:r>
          </a:p>
          <a:p>
            <a:r>
              <a:rPr lang="en-IN" sz="2800" dirty="0">
                <a:solidFill>
                  <a:schemeClr val="bg1"/>
                </a:solidFill>
              </a:rPr>
              <a:t>Multi-Restaurant Support </a:t>
            </a:r>
          </a:p>
          <a:p>
            <a:r>
              <a:rPr lang="en-IN" sz="2800" dirty="0">
                <a:solidFill>
                  <a:schemeClr val="bg1"/>
                </a:solidFill>
              </a:rPr>
              <a:t>QR Table Ordering </a:t>
            </a:r>
          </a:p>
          <a:p>
            <a:r>
              <a:rPr lang="en-IN" sz="2800" dirty="0">
                <a:solidFill>
                  <a:schemeClr val="bg1"/>
                </a:solidFill>
              </a:rPr>
              <a:t>Kitchen Display System (KDS) </a:t>
            </a:r>
          </a:p>
          <a:p>
            <a:r>
              <a:rPr lang="en-IN" sz="2800" dirty="0">
                <a:solidFill>
                  <a:schemeClr val="bg1"/>
                </a:solidFill>
              </a:rPr>
              <a:t>Inventory Management </a:t>
            </a:r>
          </a:p>
          <a:p>
            <a:r>
              <a:rPr lang="en-IN" sz="2800" dirty="0">
                <a:solidFill>
                  <a:schemeClr val="bg1"/>
                </a:solidFill>
              </a:rPr>
              <a:t>Loyalty &amp; Rewards </a:t>
            </a:r>
          </a:p>
          <a:p>
            <a:r>
              <a:rPr lang="en-IN" sz="2800" dirty="0">
                <a:solidFill>
                  <a:schemeClr val="bg1"/>
                </a:solidFill>
              </a:rPr>
              <a:t>Payment Gateway Integration </a:t>
            </a:r>
          </a:p>
          <a:p>
            <a:r>
              <a:rPr lang="en-IN" sz="2800" dirty="0">
                <a:solidFill>
                  <a:schemeClr val="bg1"/>
                </a:solidFill>
              </a:rPr>
              <a:t>Mobile Application </a:t>
            </a:r>
          </a:p>
          <a:p>
            <a:r>
              <a:rPr lang="en-IN" sz="2800" b="1" dirty="0">
                <a:solidFill>
                  <a:schemeClr val="bg1"/>
                </a:solidFill>
              </a:rPr>
              <a:t>Scalable SaaS Architecture</a:t>
            </a:r>
          </a:p>
          <a:p>
            <a:r>
              <a:rPr lang="en-IN" sz="2800" dirty="0">
                <a:solidFill>
                  <a:schemeClr val="bg1"/>
                </a:solidFill>
              </a:rPr>
              <a:t>Designed for future expansion across multiple restaurants</a:t>
            </a: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33800" y="1628775"/>
            <a:ext cx="3981449" cy="43719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6B493-7823-A2DF-A1F0-2B36078BA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5587" y="152400"/>
            <a:ext cx="3460825" cy="607859"/>
          </a:xfrm>
        </p:spPr>
        <p:txBody>
          <a:bodyPr/>
          <a:lstStyle/>
          <a:p>
            <a:r>
              <a:rPr lang="en-IN" spc="60" dirty="0"/>
              <a:t>Conclusion</a:t>
            </a:r>
            <a:endParaRPr lang="en-IN" dirty="0"/>
          </a:p>
        </p:txBody>
      </p:sp>
      <p:pic>
        <p:nvPicPr>
          <p:cNvPr id="4" name="object 12">
            <a:extLst>
              <a:ext uri="{FF2B5EF4-FFF2-40B4-BE49-F238E27FC236}">
                <a16:creationId xmlns:a16="http://schemas.microsoft.com/office/drawing/2014/main" id="{AF03037A-D2EF-6FA3-9E41-196004183CD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3800" y="1628775"/>
            <a:ext cx="3981449" cy="4371974"/>
          </a:xfrm>
          <a:prstGeom prst="rect">
            <a:avLst/>
          </a:prstGeom>
        </p:spPr>
      </p:pic>
      <p:pic>
        <p:nvPicPr>
          <p:cNvPr id="6" name="object 3">
            <a:extLst>
              <a:ext uri="{FF2B5EF4-FFF2-40B4-BE49-F238E27FC236}">
                <a16:creationId xmlns:a16="http://schemas.microsoft.com/office/drawing/2014/main" id="{11BD2B4C-BA72-33E5-CBD9-1E232848065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271" y="3171"/>
            <a:ext cx="1485899" cy="10572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08DDB7-B8AD-5FF0-718C-501B76542E59}"/>
              </a:ext>
            </a:extLst>
          </p:cNvPr>
          <p:cNvSpPr txBox="1"/>
          <p:nvPr/>
        </p:nvSpPr>
        <p:spPr>
          <a:xfrm>
            <a:off x="165343" y="401003"/>
            <a:ext cx="123775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lang="en-IN" sz="1100" dirty="0">
                <a:solidFill>
                  <a:schemeClr val="bg1"/>
                </a:solidFill>
              </a:rPr>
              <a:t>Ayush008</a:t>
            </a:r>
            <a:endParaRPr lang="en-IN" sz="1100" dirty="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422AE0-E055-CA52-A44E-6EB50FB213F2}"/>
              </a:ext>
            </a:extLst>
          </p:cNvPr>
          <p:cNvSpPr txBox="1"/>
          <p:nvPr/>
        </p:nvSpPr>
        <p:spPr>
          <a:xfrm>
            <a:off x="1828800" y="1060445"/>
            <a:ext cx="609467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bg1"/>
                </a:solidFill>
              </a:rPr>
              <a:t>Thank You</a:t>
            </a:r>
          </a:p>
          <a:p>
            <a:pPr>
              <a:buNone/>
            </a:pPr>
            <a:r>
              <a:rPr lang="en-IN" sz="2400" b="1" dirty="0" err="1">
                <a:solidFill>
                  <a:schemeClr val="bg1"/>
                </a:solidFill>
              </a:rPr>
              <a:t>TableFlow</a:t>
            </a:r>
            <a:endParaRPr lang="en-IN" sz="2400" b="1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IN" sz="2400" b="1" dirty="0">
                <a:solidFill>
                  <a:schemeClr val="bg1"/>
                </a:solidFill>
              </a:rPr>
              <a:t>AI-Powered Smart Restaurant Management System</a:t>
            </a:r>
            <a:endParaRPr lang="en-IN" sz="24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IN" sz="2400" b="1" dirty="0">
                <a:solidFill>
                  <a:schemeClr val="bg1"/>
                </a:solidFill>
              </a:rPr>
              <a:t>Live Demo</a:t>
            </a:r>
          </a:p>
          <a:p>
            <a:pPr>
              <a:buNone/>
            </a:pPr>
            <a:r>
              <a:rPr lang="en-IN" sz="2400" b="1" dirty="0">
                <a:solidFill>
                  <a:schemeClr val="bg1"/>
                </a:solidFill>
              </a:rPr>
              <a:t>Website</a:t>
            </a:r>
            <a:br>
              <a:rPr lang="en-IN" sz="2400" dirty="0"/>
            </a:br>
            <a:r>
              <a:rPr lang="en-IN" sz="2400" dirty="0">
                <a:hlinkClick r:id="rId4"/>
              </a:rPr>
              <a:t>https://table-flow-nu.vercel.app</a:t>
            </a:r>
            <a:endParaRPr lang="en-IN" sz="2400" dirty="0"/>
          </a:p>
          <a:p>
            <a:pPr>
              <a:buNone/>
            </a:pPr>
            <a:r>
              <a:rPr lang="en-IN" sz="2400" b="1" dirty="0">
                <a:solidFill>
                  <a:schemeClr val="bg1"/>
                </a:solidFill>
              </a:rPr>
              <a:t>GitHub</a:t>
            </a:r>
            <a:br>
              <a:rPr lang="en-IN" sz="2400" dirty="0"/>
            </a:br>
            <a:r>
              <a:rPr lang="en-IN" sz="2400" dirty="0">
                <a:hlinkClick r:id="rId5"/>
              </a:rPr>
              <a:t>https://github.com/ayush22cp008/TableFlow</a:t>
            </a:r>
            <a:endParaRPr lang="en-IN" sz="2400" dirty="0"/>
          </a:p>
          <a:p>
            <a:pPr>
              <a:buNone/>
            </a:pPr>
            <a:r>
              <a:rPr lang="en-IN" sz="2400" b="1" dirty="0">
                <a:solidFill>
                  <a:schemeClr val="bg1"/>
                </a:solidFill>
              </a:rPr>
              <a:t>Team</a:t>
            </a:r>
          </a:p>
          <a:p>
            <a:pPr>
              <a:buNone/>
            </a:pPr>
            <a:r>
              <a:rPr lang="en-IN" sz="2400" b="1" dirty="0">
                <a:solidFill>
                  <a:schemeClr val="bg1"/>
                </a:solidFill>
              </a:rPr>
              <a:t>Ayush008</a:t>
            </a:r>
            <a:endParaRPr lang="en-IN" sz="24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IN" sz="2400" b="1" dirty="0">
                <a:solidFill>
                  <a:schemeClr val="bg1"/>
                </a:solidFill>
              </a:rPr>
              <a:t>Ayush </a:t>
            </a:r>
            <a:r>
              <a:rPr lang="en-IN" sz="2400" b="1" dirty="0" err="1">
                <a:solidFill>
                  <a:schemeClr val="bg1"/>
                </a:solidFill>
              </a:rPr>
              <a:t>Jayeshbhai</a:t>
            </a:r>
            <a:r>
              <a:rPr lang="en-IN" sz="2400" b="1" dirty="0">
                <a:solidFill>
                  <a:schemeClr val="bg1"/>
                </a:solidFill>
              </a:rPr>
              <a:t> Halpati</a:t>
            </a:r>
            <a:endParaRPr lang="en-I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2591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340</Words>
  <Application>Microsoft Office PowerPoint</Application>
  <PresentationFormat>Widescreen</PresentationFormat>
  <Paragraphs>109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Trebuchet MS</vt:lpstr>
      <vt:lpstr>Verdana</vt:lpstr>
      <vt:lpstr>Office Theme</vt:lpstr>
      <vt:lpstr>Vibeathon 6.0 (Vibecoding Hackathon) – July 2026</vt:lpstr>
      <vt:lpstr>CURRENT PROBLEM</vt:lpstr>
      <vt:lpstr>Proposed Solution</vt:lpstr>
      <vt:lpstr>TECHNICAL APPROACH</vt:lpstr>
      <vt:lpstr>AI &amp; Smart Features</vt:lpstr>
      <vt:lpstr>Use Cases &amp; Impact</vt:lpstr>
      <vt:lpstr>Future Scope &amp; Conclusion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Vibeathon 6.0 (Vibecoding Hackathon) – July 2026</dc:title>
  <dc:creator>Lee Sec</dc:creator>
  <cp:keywords>DAHQjN5IPOU,BAHIPLeaaAA</cp:keywords>
  <cp:lastModifiedBy>Ayush Halpati</cp:lastModifiedBy>
  <cp:revision>8</cp:revision>
  <dcterms:created xsi:type="dcterms:W3CDTF">2026-07-27T04:32:00Z</dcterms:created>
  <dcterms:modified xsi:type="dcterms:W3CDTF">2026-07-27T17:47:00Z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2026-07-27T16:30:00Z</vt:filetime>
  </property>
  <property fmtid="{D5CDD505-2E9C-101B-9397-08002B2CF9AE}" pid="4" name="Creator">
    <vt:lpwstr>Canva</vt:lpwstr>
  </property>
  <property fmtid="{D5CDD505-2E9C-101B-9397-08002B2CF9AE}" pid="5" name="LastSaved">
    <vt:filetime>2026-07-27T16:30:00Z</vt:filetime>
  </property>
  <property fmtid="{D5CDD505-2E9C-101B-9397-08002B2CF9AE}" pid="6" name="Producer">
    <vt:lpwstr>Canva</vt:lpwstr>
  </property>
  <property fmtid="{D5CDD505-2E9C-101B-9397-08002B2CF9AE}" pid="7" name="ICV">
    <vt:lpwstr>44537F3519F14E1DB72381EB7E4BE5DD_12</vt:lpwstr>
  </property>
  <property fmtid="{D5CDD505-2E9C-101B-9397-08002B2CF9AE}" pid="8" name="KSOProductBuildVer">
    <vt:lpwstr>1033-12.1.0.27458</vt:lpwstr>
  </property>
</Properties>
</file>